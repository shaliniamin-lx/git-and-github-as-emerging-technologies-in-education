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0" r:id="rId5"/>
    <p:sldId id="261" r:id="rId6"/>
    <p:sldId id="269" r:id="rId7"/>
    <p:sldId id="263" r:id="rId8"/>
    <p:sldId id="272" r:id="rId9"/>
    <p:sldId id="264" r:id="rId10"/>
    <p:sldId id="265" r:id="rId11"/>
    <p:sldId id="266" r:id="rId12"/>
    <p:sldId id="267" r:id="rId13"/>
    <p:sldId id="274" r:id="rId14"/>
    <p:sldId id="270" r:id="rId15"/>
    <p:sldId id="273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3F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84915" autoAdjust="0"/>
  </p:normalViewPr>
  <p:slideViewPr>
    <p:cSldViewPr snapToGrid="0" snapToObjects="1">
      <p:cViewPr varScale="1">
        <p:scale>
          <a:sx n="63" d="100"/>
          <a:sy n="63" d="100"/>
        </p:scale>
        <p:origin x="6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8038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need to add commit; post metacognition – what they did </a:t>
            </a:r>
            <a:r>
              <a:rPr lang="en-US"/>
              <a:t>and why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a9u2yZvsqHA" TargetMode="External"/><Relationship Id="rId2" Type="http://schemas.openxmlformats.org/officeDocument/2006/relationships/hyperlink" Target="https://www.youtube.com/watch?v=QzvA7r-WndM&amp;vl=en&amp;t=303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youtube.com/watch?v=tRZGeaHPoaw" TargetMode="Externa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wipo.int/en/web/global-innovation-index/w/blogs/2026/software-collaboration-hits-5-billion-github-commits" TargetMode="External"/><Relationship Id="rId3" Type="http://schemas.openxmlformats.org/officeDocument/2006/relationships/hyperlink" Target="https://git-scm.com/doc" TargetMode="External"/><Relationship Id="rId7" Type="http://schemas.openxmlformats.org/officeDocument/2006/relationships/hyperlink" Target="https://www.linkedin.com/pulse/from-linus-github-fun-fascinating-history-git-michael-baker" TargetMode="External"/><Relationship Id="rId2" Type="http://schemas.openxmlformats.org/officeDocument/2006/relationships/hyperlink" Target="https://git-scm.com/about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geeksforgeeks.org/git/history-of-git/" TargetMode="External"/><Relationship Id="rId5" Type="http://schemas.openxmlformats.org/officeDocument/2006/relationships/hyperlink" Target="https://docs.github.com/articles/using-pull-requests" TargetMode="External"/><Relationship Id="rId4" Type="http://schemas.openxmlformats.org/officeDocument/2006/relationships/hyperlink" Target="https://docs.github.com/en/get-started/start-your-journey/what-is-github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459125A3-6E00-F19C-6DC1-C673F9BA4ECF}"/>
              </a:ext>
            </a:extLst>
          </p:cNvPr>
          <p:cNvSpPr/>
          <p:nvPr/>
        </p:nvSpPr>
        <p:spPr>
          <a:xfrm>
            <a:off x="0" y="-1"/>
            <a:ext cx="12191999" cy="6858001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Text 13"/>
          <p:cNvSpPr txBox="1"/>
          <p:nvPr/>
        </p:nvSpPr>
        <p:spPr>
          <a:xfrm>
            <a:off x="2923946" y="3514358"/>
            <a:ext cx="7678984" cy="2791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0" b="1" dirty="0"/>
              <a:t>Git and GitHub</a:t>
            </a:r>
            <a:endParaRPr lang="en-US" sz="34400" b="1" dirty="0"/>
          </a:p>
        </p:txBody>
      </p:sp>
      <p:sp>
        <p:nvSpPr>
          <p:cNvPr id="17" name="Shape 15"/>
          <p:cNvSpPr/>
          <p:nvPr/>
        </p:nvSpPr>
        <p:spPr>
          <a:xfrm>
            <a:off x="3014438" y="5529703"/>
            <a:ext cx="6300000" cy="0"/>
          </a:xfrm>
          <a:prstGeom prst="line">
            <a:avLst/>
          </a:prstGeom>
          <a:noFill/>
          <a:ln w="38100">
            <a:solidFill>
              <a:srgbClr val="F0513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83CFD17-0987-668D-3A35-E7D9E2FDCC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3368"/>
          <a:stretch>
            <a:fillRect/>
          </a:stretch>
        </p:blipFill>
        <p:spPr>
          <a:xfrm>
            <a:off x="2198669" y="556220"/>
            <a:ext cx="7593367" cy="3237233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8B48EF8-6960-1C1E-D524-D9D17E551A09}"/>
              </a:ext>
            </a:extLst>
          </p:cNvPr>
          <p:cNvSpPr txBox="1"/>
          <p:nvPr/>
        </p:nvSpPr>
        <p:spPr>
          <a:xfrm>
            <a:off x="2913672" y="5591347"/>
            <a:ext cx="68372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spc="600" dirty="0"/>
              <a:t>The Evolution of Collaborative Work</a:t>
            </a:r>
            <a:endParaRPr lang="en-GB" sz="1000" spc="6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1AE17E9-DCA3-6B53-433F-4C9F23AFEFC1}"/>
              </a:ext>
            </a:extLst>
          </p:cNvPr>
          <p:cNvSpPr txBox="1"/>
          <p:nvPr/>
        </p:nvSpPr>
        <p:spPr>
          <a:xfrm>
            <a:off x="217589" y="6274854"/>
            <a:ext cx="13701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Shalini Amin</a:t>
            </a:r>
          </a:p>
          <a:p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MAET PT 2025 - 27</a:t>
            </a:r>
            <a:endParaRPr lang="en-GB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Git?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4415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version control system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tracks changes to files over time — letting multiple people work on the same project without overwriting each other's work.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492240" y="17830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89720" y="17830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(DISTRIBUTED)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83780" y="2514600"/>
            <a:ext cx="640080" cy="457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10" name="Text 8"/>
          <p:cNvSpPr txBox="1"/>
          <p:nvPr/>
        </p:nvSpPr>
        <p:spPr>
          <a:xfrm>
            <a:off x="7246620" y="259689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 flipH="1">
            <a:off x="6697980" y="2971800"/>
            <a:ext cx="1005840" cy="960120"/>
          </a:xfrm>
          <a:prstGeom prst="line">
            <a:avLst/>
          </a:prstGeom>
          <a:noFill/>
          <a:ln w="1587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12" name="Shape 10"/>
          <p:cNvSpPr/>
          <p:nvPr/>
        </p:nvSpPr>
        <p:spPr>
          <a:xfrm>
            <a:off x="6569964" y="3803904"/>
            <a:ext cx="256032" cy="256032"/>
          </a:xfrm>
          <a:prstGeom prst="ellipse">
            <a:avLst/>
          </a:prstGeom>
          <a:solidFill>
            <a:srgbClr val="EDEDED"/>
          </a:solidFill>
          <a:ln w="12700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13" name="Shape 11"/>
          <p:cNvSpPr/>
          <p:nvPr/>
        </p:nvSpPr>
        <p:spPr>
          <a:xfrm>
            <a:off x="7703820" y="2971800"/>
            <a:ext cx="0" cy="1143000"/>
          </a:xfrm>
          <a:prstGeom prst="line">
            <a:avLst/>
          </a:prstGeom>
          <a:noFill/>
          <a:ln w="1587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14" name="Shape 12"/>
          <p:cNvSpPr/>
          <p:nvPr/>
        </p:nvSpPr>
        <p:spPr>
          <a:xfrm>
            <a:off x="7575804" y="3986784"/>
            <a:ext cx="256032" cy="256032"/>
          </a:xfrm>
          <a:prstGeom prst="ellipse">
            <a:avLst/>
          </a:prstGeom>
          <a:solidFill>
            <a:srgbClr val="EDEDED"/>
          </a:solidFill>
          <a:ln w="12700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15" name="Shape 13"/>
          <p:cNvSpPr/>
          <p:nvPr/>
        </p:nvSpPr>
        <p:spPr>
          <a:xfrm>
            <a:off x="7703820" y="2971800"/>
            <a:ext cx="1005840" cy="960120"/>
          </a:xfrm>
          <a:prstGeom prst="line">
            <a:avLst/>
          </a:prstGeom>
          <a:noFill/>
          <a:ln w="1587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16" name="Shape 14"/>
          <p:cNvSpPr/>
          <p:nvPr/>
        </p:nvSpPr>
        <p:spPr>
          <a:xfrm>
            <a:off x="8581644" y="3803904"/>
            <a:ext cx="256032" cy="256032"/>
          </a:xfrm>
          <a:prstGeom prst="ellipse">
            <a:avLst/>
          </a:prstGeom>
          <a:solidFill>
            <a:srgbClr val="EDEDED"/>
          </a:solidFill>
          <a:ln w="12700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17" name="Shape 15"/>
          <p:cNvSpPr/>
          <p:nvPr/>
        </p:nvSpPr>
        <p:spPr>
          <a:xfrm flipH="1">
            <a:off x="9395460" y="2743200"/>
            <a:ext cx="1005840" cy="1371600"/>
          </a:xfrm>
          <a:prstGeom prst="line">
            <a:avLst/>
          </a:prstGeom>
          <a:noFill/>
          <a:ln w="15875">
            <a:solidFill>
              <a:srgbClr val="F05133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18" name="Shape 16"/>
          <p:cNvSpPr/>
          <p:nvPr/>
        </p:nvSpPr>
        <p:spPr>
          <a:xfrm>
            <a:off x="9395460" y="4114800"/>
            <a:ext cx="2011680" cy="0"/>
          </a:xfrm>
          <a:prstGeom prst="line">
            <a:avLst/>
          </a:prstGeom>
          <a:noFill/>
          <a:ln w="15875">
            <a:solidFill>
              <a:srgbClr val="F05133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19" name="Shape 17"/>
          <p:cNvSpPr/>
          <p:nvPr/>
        </p:nvSpPr>
        <p:spPr>
          <a:xfrm flipH="1" flipV="1">
            <a:off x="10401300" y="2743200"/>
            <a:ext cx="1005840" cy="1371600"/>
          </a:xfrm>
          <a:prstGeom prst="line">
            <a:avLst/>
          </a:prstGeom>
          <a:noFill/>
          <a:ln w="15875">
            <a:solidFill>
              <a:srgbClr val="F05133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20" name="Shape 18"/>
          <p:cNvSpPr/>
          <p:nvPr/>
        </p:nvSpPr>
        <p:spPr>
          <a:xfrm>
            <a:off x="10200132" y="254203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05133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21" name="Shape 19"/>
          <p:cNvSpPr/>
          <p:nvPr/>
        </p:nvSpPr>
        <p:spPr>
          <a:xfrm>
            <a:off x="9194292" y="391363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05133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22" name="Shape 20"/>
          <p:cNvSpPr/>
          <p:nvPr/>
        </p:nvSpPr>
        <p:spPr>
          <a:xfrm>
            <a:off x="11205972" y="391363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05133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23" name="Text 21"/>
          <p:cNvSpPr txBox="1"/>
          <p:nvPr/>
        </p:nvSpPr>
        <p:spPr>
          <a:xfrm>
            <a:off x="6492240" y="45720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source of truth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189720" y="45720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peer holds a full copy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GitHub?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4415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cloud-based platform 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around Git — a place to store and share repositories, layered with tools for collaboration.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675120" y="2011680"/>
            <a:ext cx="196596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17" name="Text 15"/>
          <p:cNvSpPr txBox="1"/>
          <p:nvPr/>
        </p:nvSpPr>
        <p:spPr>
          <a:xfrm>
            <a:off x="6675120" y="201168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REPOSITORY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418320" y="1874520"/>
            <a:ext cx="2224735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25400">
            <a:solidFill>
              <a:srgbClr val="F05133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19" name="Text 17"/>
          <p:cNvSpPr txBox="1"/>
          <p:nvPr/>
        </p:nvSpPr>
        <p:spPr>
          <a:xfrm>
            <a:off x="9418320" y="1874520"/>
            <a:ext cx="222473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(CLOUD)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695944" y="2368296"/>
            <a:ext cx="667512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en-GB" sz="2800"/>
          </a:p>
        </p:txBody>
      </p:sp>
      <p:sp>
        <p:nvSpPr>
          <p:cNvPr id="21" name="Text 19"/>
          <p:cNvSpPr txBox="1"/>
          <p:nvPr/>
        </p:nvSpPr>
        <p:spPr>
          <a:xfrm>
            <a:off x="8641080" y="171907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 flipH="1">
            <a:off x="8695944" y="2715768"/>
            <a:ext cx="667512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en-GB" sz="2800"/>
          </a:p>
        </p:txBody>
      </p:sp>
      <p:sp>
        <p:nvSpPr>
          <p:cNvPr id="23" name="Text 21"/>
          <p:cNvSpPr txBox="1"/>
          <p:nvPr/>
        </p:nvSpPr>
        <p:spPr>
          <a:xfrm>
            <a:off x="8641080" y="307238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9235440" y="3474720"/>
            <a:ext cx="2590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+ pull requests + review + issues + discussions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3474720"/>
            <a:ext cx="49679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is the version-control system. GitHub is a platform that supports collaboration and sharing using Git — related, but not the same.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Did They Emerge?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1368312"/>
            <a:ext cx="11094415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5" name="Shape 3"/>
          <p:cNvSpPr/>
          <p:nvPr/>
        </p:nvSpPr>
        <p:spPr>
          <a:xfrm>
            <a:off x="1188720" y="3713079"/>
            <a:ext cx="9784080" cy="0"/>
          </a:xfrm>
          <a:prstGeom prst="line">
            <a:avLst/>
          </a:prstGeom>
          <a:noFill/>
          <a:ln w="254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6" name="Shape 4"/>
          <p:cNvSpPr/>
          <p:nvPr/>
        </p:nvSpPr>
        <p:spPr>
          <a:xfrm>
            <a:off x="2011680" y="3621639"/>
            <a:ext cx="182880" cy="182880"/>
          </a:xfrm>
          <a:prstGeom prst="ellipse">
            <a:avLst/>
          </a:prstGeom>
          <a:solidFill>
            <a:srgbClr val="F05133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7" name="Text 5"/>
          <p:cNvSpPr txBox="1"/>
          <p:nvPr/>
        </p:nvSpPr>
        <p:spPr>
          <a:xfrm>
            <a:off x="1097280" y="1975719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2005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387199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is created</a:t>
            </a:r>
            <a:endParaRPr lang="en-US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707239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Linus Torvalds builds Git for Linux kernel development after a licensing dispute ends the community's use of BitKeeper.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103120" y="3575919"/>
            <a:ext cx="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11" name="Shape 9"/>
          <p:cNvSpPr/>
          <p:nvPr/>
        </p:nvSpPr>
        <p:spPr>
          <a:xfrm>
            <a:off x="5669280" y="3621639"/>
            <a:ext cx="182880" cy="182880"/>
          </a:xfrm>
          <a:prstGeom prst="ellipse">
            <a:avLst/>
          </a:prstGeom>
          <a:solidFill>
            <a:srgbClr val="F05133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12" name="Text 10"/>
          <p:cNvSpPr txBox="1"/>
          <p:nvPr/>
        </p:nvSpPr>
        <p:spPr>
          <a:xfrm>
            <a:off x="4754880" y="3987399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2008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4398879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launches</a:t>
            </a:r>
            <a:endParaRPr lang="en-US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4673199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online home for Git repositories — hosting, sharing, and a social layer for developers.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326880" y="3621639"/>
            <a:ext cx="182880" cy="182880"/>
          </a:xfrm>
          <a:prstGeom prst="ellipse">
            <a:avLst/>
          </a:prstGeom>
          <a:solidFill>
            <a:srgbClr val="000000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16" name="Text 14"/>
          <p:cNvSpPr txBox="1"/>
          <p:nvPr/>
        </p:nvSpPr>
        <p:spPr>
          <a:xfrm>
            <a:off x="8412480" y="1975719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2387199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standard</a:t>
            </a:r>
            <a:endParaRPr lang="en-US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2707239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GitHub underpin open-source, enterprise, and research software development worldwide.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418320" y="3575919"/>
            <a:ext cx="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Git Works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4415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22860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6" name="Text 4"/>
          <p:cNvSpPr txBox="1"/>
          <p:nvPr/>
        </p:nvSpPr>
        <p:spPr>
          <a:xfrm>
            <a:off x="685800" y="2286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51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97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03580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the project and all its files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889504" y="2880360"/>
            <a:ext cx="54041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en-GB" sz="2800"/>
          </a:p>
        </p:txBody>
      </p:sp>
      <p:sp>
        <p:nvSpPr>
          <p:cNvPr id="10" name="Shape 8"/>
          <p:cNvSpPr/>
          <p:nvPr/>
        </p:nvSpPr>
        <p:spPr>
          <a:xfrm>
            <a:off x="3484778" y="2194560"/>
            <a:ext cx="22860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11" name="Text 9"/>
          <p:cNvSpPr txBox="1"/>
          <p:nvPr/>
        </p:nvSpPr>
        <p:spPr>
          <a:xfrm>
            <a:off x="3621938" y="2286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51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825642" y="2880360"/>
            <a:ext cx="54041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en-GB" sz="2800"/>
          </a:p>
        </p:txBody>
      </p:sp>
      <p:sp>
        <p:nvSpPr>
          <p:cNvPr id="15" name="Shape 13"/>
          <p:cNvSpPr/>
          <p:nvPr/>
        </p:nvSpPr>
        <p:spPr>
          <a:xfrm>
            <a:off x="6420917" y="2194560"/>
            <a:ext cx="22860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16" name="Text 14"/>
          <p:cNvSpPr txBox="1"/>
          <p:nvPr/>
        </p:nvSpPr>
        <p:spPr>
          <a:xfrm>
            <a:off x="6558077" y="2286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51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3653942" y="2647187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3653942" y="2985515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separate line of work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761781" y="2880360"/>
            <a:ext cx="54041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en-GB" sz="2800"/>
          </a:p>
        </p:txBody>
      </p:sp>
      <p:sp>
        <p:nvSpPr>
          <p:cNvPr id="20" name="Shape 18"/>
          <p:cNvSpPr/>
          <p:nvPr/>
        </p:nvSpPr>
        <p:spPr>
          <a:xfrm>
            <a:off x="9357055" y="2194560"/>
            <a:ext cx="22860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21" name="Text 19"/>
          <p:cNvSpPr txBox="1"/>
          <p:nvPr/>
        </p:nvSpPr>
        <p:spPr>
          <a:xfrm>
            <a:off x="9494215" y="2286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51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9494215" y="2697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9494215" y="303580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Brings changes back to the main line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4297680"/>
            <a:ext cx="9509760" cy="0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25" name="Text 23"/>
          <p:cNvSpPr txBox="1"/>
          <p:nvPr/>
        </p:nvSpPr>
        <p:spPr>
          <a:xfrm>
            <a:off x="91440" y="4160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560320" y="4297680"/>
            <a:ext cx="1828800" cy="822960"/>
          </a:xfrm>
          <a:prstGeom prst="line">
            <a:avLst/>
          </a:prstGeom>
          <a:noFill/>
          <a:ln w="19050">
            <a:solidFill>
              <a:srgbClr val="F05133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27" name="Shape 25"/>
          <p:cNvSpPr/>
          <p:nvPr/>
        </p:nvSpPr>
        <p:spPr>
          <a:xfrm flipV="1">
            <a:off x="4389120" y="4297680"/>
            <a:ext cx="1828800" cy="822960"/>
          </a:xfrm>
          <a:prstGeom prst="line">
            <a:avLst/>
          </a:prstGeom>
          <a:noFill/>
          <a:ln w="19050">
            <a:solidFill>
              <a:srgbClr val="F05133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28" name="Text 26"/>
          <p:cNvSpPr txBox="1"/>
          <p:nvPr/>
        </p:nvSpPr>
        <p:spPr>
          <a:xfrm>
            <a:off x="2834640" y="51023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branch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93776" y="4242816"/>
            <a:ext cx="109728" cy="10972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30" name="Shape 28"/>
          <p:cNvSpPr/>
          <p:nvPr/>
        </p:nvSpPr>
        <p:spPr>
          <a:xfrm>
            <a:off x="2505456" y="4242816"/>
            <a:ext cx="109728" cy="10972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31" name="Shape 29"/>
          <p:cNvSpPr/>
          <p:nvPr/>
        </p:nvSpPr>
        <p:spPr>
          <a:xfrm>
            <a:off x="6163056" y="4242816"/>
            <a:ext cx="109728" cy="10972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32" name="Shape 30"/>
          <p:cNvSpPr/>
          <p:nvPr/>
        </p:nvSpPr>
        <p:spPr>
          <a:xfrm>
            <a:off x="10003536" y="4242816"/>
            <a:ext cx="109728" cy="10972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12" name="Text 10"/>
          <p:cNvSpPr txBox="1"/>
          <p:nvPr/>
        </p:nvSpPr>
        <p:spPr>
          <a:xfrm>
            <a:off x="6535217" y="2560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535217" y="289864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 set of changes</a:t>
            </a:r>
            <a:endParaRPr lang="en-US" sz="1400" dirty="0"/>
          </a:p>
        </p:txBody>
      </p:sp>
      <p:sp>
        <p:nvSpPr>
          <p:cNvPr id="36" name="Google Shape;53;p3">
            <a:extLst>
              <a:ext uri="{FF2B5EF4-FFF2-40B4-BE49-F238E27FC236}">
                <a16:creationId xmlns:a16="http://schemas.microsoft.com/office/drawing/2014/main" id="{12427FE8-8AD2-AF68-7E5B-D7FECC72D02A}"/>
              </a:ext>
            </a:extLst>
          </p:cNvPr>
          <p:cNvSpPr txBox="1"/>
          <p:nvPr/>
        </p:nvSpPr>
        <p:spPr>
          <a:xfrm>
            <a:off x="609600" y="5852160"/>
            <a:ext cx="108508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333333"/>
              </a:buClr>
              <a:buSzPts val="1000"/>
            </a:pPr>
            <a:r>
              <a:rPr lang="en-GB" sz="1400" i="1" dirty="0">
                <a:latin typeface="Arial" panose="020B0604020202020204" pitchFamily="34" charset="0"/>
                <a:cs typeface="Arial" panose="020B0604020202020204" pitchFamily="34" charset="0"/>
              </a:rPr>
              <a:t>Developers create branches, make and record changes, and merge completed work back into the main project.</a:t>
            </a:r>
            <a:endParaRPr sz="1333" i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609600" y="1463040"/>
            <a:ext cx="2438400" cy="158496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9" name="Google Shape;19;p3"/>
          <p:cNvSpPr txBox="1"/>
          <p:nvPr/>
        </p:nvSpPr>
        <p:spPr>
          <a:xfrm>
            <a:off x="792480" y="1584960"/>
            <a:ext cx="487680" cy="42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CC4433"/>
              </a:buClr>
              <a:buSzPts val="2000"/>
            </a:pPr>
            <a:r>
              <a:rPr lang="en-US" sz="2667" b="1">
                <a:solidFill>
                  <a:srgbClr val="CC4433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6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 txBox="1"/>
          <p:nvPr/>
        </p:nvSpPr>
        <p:spPr>
          <a:xfrm>
            <a:off x="792480" y="2072640"/>
            <a:ext cx="2072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n-US" sz="1467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REPOSITORY</a:t>
            </a:r>
            <a:endParaRPr sz="1467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 txBox="1"/>
          <p:nvPr/>
        </p:nvSpPr>
        <p:spPr>
          <a:xfrm>
            <a:off x="792480" y="2499360"/>
            <a:ext cx="2072640" cy="42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666666"/>
              </a:buClr>
              <a:buSzPts val="900"/>
            </a:pPr>
            <a:r>
              <a:rPr lang="en-US" sz="120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Stores project and its files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3108960" y="2194560"/>
            <a:ext cx="792480" cy="60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3" name="Google Shape;23;p3"/>
          <p:cNvSpPr/>
          <p:nvPr/>
        </p:nvSpPr>
        <p:spPr>
          <a:xfrm>
            <a:off x="3779520" y="2133600"/>
            <a:ext cx="121920" cy="1828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4" name="Google Shape;24;p3"/>
          <p:cNvSpPr/>
          <p:nvPr/>
        </p:nvSpPr>
        <p:spPr>
          <a:xfrm>
            <a:off x="3413760" y="1463040"/>
            <a:ext cx="2438400" cy="158496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5" name="Google Shape;25;p3"/>
          <p:cNvSpPr txBox="1"/>
          <p:nvPr/>
        </p:nvSpPr>
        <p:spPr>
          <a:xfrm>
            <a:off x="3596640" y="1584960"/>
            <a:ext cx="487680" cy="42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CC4433"/>
              </a:buClr>
              <a:buSzPts val="2000"/>
            </a:pPr>
            <a:r>
              <a:rPr lang="en-US" sz="2667" b="1">
                <a:solidFill>
                  <a:srgbClr val="CC4433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6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 txBox="1"/>
          <p:nvPr/>
        </p:nvSpPr>
        <p:spPr>
          <a:xfrm>
            <a:off x="3596640" y="2072640"/>
            <a:ext cx="2072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n-US" sz="1467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BRANCH &amp; COMMIT</a:t>
            </a:r>
            <a:endParaRPr sz="14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 txBox="1"/>
          <p:nvPr/>
        </p:nvSpPr>
        <p:spPr>
          <a:xfrm>
            <a:off x="3596640" y="2499360"/>
            <a:ext cx="2072640" cy="42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666666"/>
              </a:buClr>
              <a:buSzPts val="900"/>
            </a:pPr>
            <a:r>
              <a:rPr lang="en-US" sz="120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Work on changes separately and record them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5913120" y="2194560"/>
            <a:ext cx="792480" cy="60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9" name="Google Shape;29;p3"/>
          <p:cNvSpPr/>
          <p:nvPr/>
        </p:nvSpPr>
        <p:spPr>
          <a:xfrm>
            <a:off x="6583680" y="2133600"/>
            <a:ext cx="121920" cy="1828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0" name="Google Shape;30;p3"/>
          <p:cNvSpPr/>
          <p:nvPr/>
        </p:nvSpPr>
        <p:spPr>
          <a:xfrm>
            <a:off x="6217920" y="1463040"/>
            <a:ext cx="2438400" cy="158496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1" name="Google Shape;31;p3"/>
          <p:cNvSpPr txBox="1"/>
          <p:nvPr/>
        </p:nvSpPr>
        <p:spPr>
          <a:xfrm>
            <a:off x="6400800" y="1584960"/>
            <a:ext cx="487680" cy="42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CC4433"/>
              </a:buClr>
              <a:buSzPts val="2000"/>
            </a:pPr>
            <a:r>
              <a:rPr lang="en-US" sz="2667" b="1">
                <a:solidFill>
                  <a:srgbClr val="CC4433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26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 txBox="1"/>
          <p:nvPr/>
        </p:nvSpPr>
        <p:spPr>
          <a:xfrm>
            <a:off x="6400800" y="2072640"/>
            <a:ext cx="2072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n-US" sz="1467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PULL REQUEST</a:t>
            </a:r>
            <a:endParaRPr sz="14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 txBox="1"/>
          <p:nvPr/>
        </p:nvSpPr>
        <p:spPr>
          <a:xfrm>
            <a:off x="6400800" y="2499360"/>
            <a:ext cx="2072640" cy="42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666666"/>
              </a:buClr>
              <a:buSzPts val="900"/>
            </a:pPr>
            <a:r>
              <a:rPr lang="en-US" sz="1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Propose changes for review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8717280" y="2194560"/>
            <a:ext cx="792480" cy="60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5" name="Google Shape;35;p3"/>
          <p:cNvSpPr/>
          <p:nvPr/>
        </p:nvSpPr>
        <p:spPr>
          <a:xfrm>
            <a:off x="9387840" y="2133600"/>
            <a:ext cx="121920" cy="1828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6" name="Google Shape;36;p3"/>
          <p:cNvSpPr/>
          <p:nvPr/>
        </p:nvSpPr>
        <p:spPr>
          <a:xfrm>
            <a:off x="9022080" y="1463040"/>
            <a:ext cx="2438400" cy="158496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7" name="Google Shape;37;p3"/>
          <p:cNvSpPr txBox="1"/>
          <p:nvPr/>
        </p:nvSpPr>
        <p:spPr>
          <a:xfrm>
            <a:off x="9204960" y="1584960"/>
            <a:ext cx="487680" cy="42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CC4433"/>
              </a:buClr>
              <a:buSzPts val="2000"/>
            </a:pPr>
            <a:r>
              <a:rPr lang="en-US" sz="2667" b="1">
                <a:solidFill>
                  <a:srgbClr val="CC4433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26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 txBox="1"/>
          <p:nvPr/>
        </p:nvSpPr>
        <p:spPr>
          <a:xfrm>
            <a:off x="9204960" y="2072640"/>
            <a:ext cx="2072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n-US" sz="1467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REVIEW &amp; MERGE</a:t>
            </a:r>
            <a:endParaRPr sz="14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 txBox="1"/>
          <p:nvPr/>
        </p:nvSpPr>
        <p:spPr>
          <a:xfrm>
            <a:off x="9204960" y="2499360"/>
            <a:ext cx="2072640" cy="42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666666"/>
              </a:buClr>
              <a:buSzPts val="900"/>
            </a:pPr>
            <a:r>
              <a:rPr lang="en-US" sz="120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Review, approve and integrate changes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 txBox="1"/>
          <p:nvPr/>
        </p:nvSpPr>
        <p:spPr>
          <a:xfrm>
            <a:off x="609600" y="3657600"/>
            <a:ext cx="487680" cy="243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00000"/>
              </a:buClr>
              <a:buSzPts val="900"/>
            </a:pPr>
            <a:r>
              <a:rPr lang="en-US" sz="1200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" name="Google Shape;41;p3"/>
          <p:cNvCxnSpPr/>
          <p:nvPr/>
        </p:nvCxnSpPr>
        <p:spPr>
          <a:xfrm>
            <a:off x="1158240" y="3779520"/>
            <a:ext cx="10119360" cy="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3"/>
          <p:cNvSpPr/>
          <p:nvPr/>
        </p:nvSpPr>
        <p:spPr>
          <a:xfrm>
            <a:off x="1158240" y="3724656"/>
            <a:ext cx="182880" cy="18288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43" name="Google Shape;43;p3"/>
          <p:cNvSpPr/>
          <p:nvPr/>
        </p:nvSpPr>
        <p:spPr>
          <a:xfrm>
            <a:off x="3901440" y="3724656"/>
            <a:ext cx="182880" cy="18288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44" name="Google Shape;44;p3"/>
          <p:cNvSpPr/>
          <p:nvPr/>
        </p:nvSpPr>
        <p:spPr>
          <a:xfrm>
            <a:off x="6705600" y="3724656"/>
            <a:ext cx="182880" cy="18288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45" name="Google Shape;45;p3"/>
          <p:cNvSpPr/>
          <p:nvPr/>
        </p:nvSpPr>
        <p:spPr>
          <a:xfrm>
            <a:off x="9509760" y="3724656"/>
            <a:ext cx="182880" cy="18288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46" name="Google Shape;46;p3"/>
          <p:cNvSpPr txBox="1"/>
          <p:nvPr/>
        </p:nvSpPr>
        <p:spPr>
          <a:xfrm>
            <a:off x="3657600" y="4084320"/>
            <a:ext cx="1828800" cy="243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CC4433"/>
              </a:buClr>
              <a:buSzPts val="900"/>
            </a:pPr>
            <a:r>
              <a:rPr lang="en-US" sz="1200" i="1" dirty="0">
                <a:solidFill>
                  <a:srgbClr val="CC4433"/>
                </a:solidFill>
                <a:latin typeface="Arial"/>
                <a:ea typeface="Arial"/>
                <a:cs typeface="Arial"/>
                <a:sym typeface="Arial"/>
              </a:rPr>
              <a:t>Feature branch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" name="Google Shape;47;p3"/>
          <p:cNvCxnSpPr/>
          <p:nvPr/>
        </p:nvCxnSpPr>
        <p:spPr>
          <a:xfrm flipH="1">
            <a:off x="3169920" y="3779520"/>
            <a:ext cx="731520" cy="792480"/>
          </a:xfrm>
          <a:prstGeom prst="straightConnector1">
            <a:avLst/>
          </a:prstGeom>
          <a:noFill/>
          <a:ln w="25400" cap="flat" cmpd="sng">
            <a:solidFill>
              <a:srgbClr val="CC443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8" name="Google Shape;48;p3"/>
          <p:cNvCxnSpPr/>
          <p:nvPr/>
        </p:nvCxnSpPr>
        <p:spPr>
          <a:xfrm>
            <a:off x="3169920" y="4632960"/>
            <a:ext cx="2438400" cy="0"/>
          </a:xfrm>
          <a:prstGeom prst="straightConnector1">
            <a:avLst/>
          </a:prstGeom>
          <a:noFill/>
          <a:ln w="25400" cap="flat" cmpd="sng">
            <a:solidFill>
              <a:srgbClr val="CC443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9" name="Google Shape;49;p3"/>
          <p:cNvCxnSpPr/>
          <p:nvPr/>
        </p:nvCxnSpPr>
        <p:spPr>
          <a:xfrm rot="10800000" flipH="1">
            <a:off x="5608320" y="3840480"/>
            <a:ext cx="731520" cy="792480"/>
          </a:xfrm>
          <a:prstGeom prst="straightConnector1">
            <a:avLst/>
          </a:prstGeom>
          <a:noFill/>
          <a:ln w="25400" cap="flat" cmpd="sng">
            <a:solidFill>
              <a:srgbClr val="CC443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0" name="Google Shape;50;p3"/>
          <p:cNvSpPr/>
          <p:nvPr/>
        </p:nvSpPr>
        <p:spPr>
          <a:xfrm>
            <a:off x="3840480" y="3724656"/>
            <a:ext cx="146304" cy="146304"/>
          </a:xfrm>
          <a:prstGeom prst="ellipse">
            <a:avLst/>
          </a:prstGeom>
          <a:solidFill>
            <a:srgbClr val="CC443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51" name="Google Shape;51;p3"/>
          <p:cNvSpPr/>
          <p:nvPr/>
        </p:nvSpPr>
        <p:spPr>
          <a:xfrm>
            <a:off x="4937760" y="4572000"/>
            <a:ext cx="146304" cy="146304"/>
          </a:xfrm>
          <a:prstGeom prst="ellipse">
            <a:avLst/>
          </a:prstGeom>
          <a:solidFill>
            <a:srgbClr val="CC443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52" name="Google Shape;52;p3"/>
          <p:cNvSpPr/>
          <p:nvPr/>
        </p:nvSpPr>
        <p:spPr>
          <a:xfrm>
            <a:off x="6644640" y="3724656"/>
            <a:ext cx="146304" cy="146304"/>
          </a:xfrm>
          <a:prstGeom prst="ellipse">
            <a:avLst/>
          </a:prstGeom>
          <a:solidFill>
            <a:srgbClr val="CC443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53" name="Google Shape;53;p3"/>
          <p:cNvSpPr txBox="1"/>
          <p:nvPr/>
        </p:nvSpPr>
        <p:spPr>
          <a:xfrm>
            <a:off x="609600" y="5852160"/>
            <a:ext cx="108508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333333"/>
              </a:buClr>
              <a:buSzPts val="1000"/>
            </a:pPr>
            <a:r>
              <a:rPr lang="en-GB" sz="1400" i="1" dirty="0">
                <a:latin typeface="Arial" panose="020B0604020202020204" pitchFamily="34" charset="0"/>
                <a:cs typeface="Arial" panose="020B0604020202020204" pitchFamily="34" charset="0"/>
              </a:rPr>
              <a:t>Developers work on branches, submit changes for review, and merge approved changes into the main project.</a:t>
            </a:r>
            <a:endParaRPr sz="1333" i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964CBC9-0B09-B5F3-8415-B1DF36485B17}"/>
              </a:ext>
            </a:extLst>
          </p:cNvPr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GitHub Works</a:t>
            </a:r>
            <a:endParaRPr lang="en-US" sz="44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72EE06CB-CD3B-9C51-A020-A152E59FB587}"/>
              </a:ext>
            </a:extLst>
          </p:cNvPr>
          <p:cNvSpPr/>
          <p:nvPr/>
        </p:nvSpPr>
        <p:spPr>
          <a:xfrm>
            <a:off x="548640" y="1481328"/>
            <a:ext cx="11094415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Uses Git &amp; GitHub — and Where?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4415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1206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6" name="Shape 4"/>
          <p:cNvSpPr/>
          <p:nvPr/>
        </p:nvSpPr>
        <p:spPr>
          <a:xfrm>
            <a:off x="804672" y="2272284"/>
            <a:ext cx="164592" cy="164592"/>
          </a:xfrm>
          <a:prstGeom prst="ellipse">
            <a:avLst/>
          </a:prstGeom>
          <a:solidFill>
            <a:srgbClr val="F05133"/>
          </a:solidFill>
          <a:ln w="12700">
            <a:solidFill>
              <a:srgbClr val="F05133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7" name="Text 5"/>
          <p:cNvSpPr txBox="1"/>
          <p:nvPr/>
        </p:nvSpPr>
        <p:spPr>
          <a:xfrm>
            <a:off x="1143000" y="1828800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Software, web, product development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217920" y="1828800"/>
            <a:ext cx="51206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9" name="Shape 7"/>
          <p:cNvSpPr/>
          <p:nvPr/>
        </p:nvSpPr>
        <p:spPr>
          <a:xfrm>
            <a:off x="6473952" y="2272284"/>
            <a:ext cx="164592" cy="164592"/>
          </a:xfrm>
          <a:prstGeom prst="ellipse">
            <a:avLst/>
          </a:prstGeom>
          <a:solidFill>
            <a:srgbClr val="F05133"/>
          </a:solidFill>
          <a:ln w="12700">
            <a:solidFill>
              <a:srgbClr val="F05133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10" name="Text 8"/>
          <p:cNvSpPr txBox="1"/>
          <p:nvPr/>
        </p:nvSpPr>
        <p:spPr>
          <a:xfrm>
            <a:off x="6812280" y="1828800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&amp; data engineering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51206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12" name="Shape 10"/>
          <p:cNvSpPr/>
          <p:nvPr/>
        </p:nvSpPr>
        <p:spPr>
          <a:xfrm>
            <a:off x="804672" y="3643884"/>
            <a:ext cx="164592" cy="164592"/>
          </a:xfrm>
          <a:prstGeom prst="ellipse">
            <a:avLst/>
          </a:prstGeom>
          <a:solidFill>
            <a:srgbClr val="F05133"/>
          </a:solidFill>
          <a:ln w="12700">
            <a:solidFill>
              <a:srgbClr val="F05133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13" name="Text 11"/>
          <p:cNvSpPr txBox="1"/>
          <p:nvPr/>
        </p:nvSpPr>
        <p:spPr>
          <a:xfrm>
            <a:off x="1143000" y="3200400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machine learning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217920" y="3200400"/>
            <a:ext cx="51206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15" name="Shape 13"/>
          <p:cNvSpPr/>
          <p:nvPr/>
        </p:nvSpPr>
        <p:spPr>
          <a:xfrm>
            <a:off x="6473952" y="3643884"/>
            <a:ext cx="164592" cy="164592"/>
          </a:xfrm>
          <a:prstGeom prst="ellipse">
            <a:avLst/>
          </a:prstGeom>
          <a:solidFill>
            <a:srgbClr val="F05133"/>
          </a:solidFill>
          <a:ln w="12700">
            <a:solidFill>
              <a:srgbClr val="F05133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16" name="Text 14"/>
          <p:cNvSpPr txBox="1"/>
          <p:nvPr/>
        </p:nvSpPr>
        <p:spPr>
          <a:xfrm>
            <a:off x="6812280" y="3200400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development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48640" y="4572000"/>
            <a:ext cx="51206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18" name="Shape 16"/>
          <p:cNvSpPr/>
          <p:nvPr/>
        </p:nvSpPr>
        <p:spPr>
          <a:xfrm>
            <a:off x="804672" y="5015484"/>
            <a:ext cx="164592" cy="164592"/>
          </a:xfrm>
          <a:prstGeom prst="ellipse">
            <a:avLst/>
          </a:prstGeom>
          <a:solidFill>
            <a:srgbClr val="F05133"/>
          </a:solidFill>
          <a:ln w="12700">
            <a:solidFill>
              <a:srgbClr val="F05133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19" name="Text 17"/>
          <p:cNvSpPr txBox="1"/>
          <p:nvPr/>
        </p:nvSpPr>
        <p:spPr>
          <a:xfrm>
            <a:off x="1143000" y="4572000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&amp; research projects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217920" y="4572000"/>
            <a:ext cx="51206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21" name="Shape 19"/>
          <p:cNvSpPr/>
          <p:nvPr/>
        </p:nvSpPr>
        <p:spPr>
          <a:xfrm>
            <a:off x="6473952" y="5015484"/>
            <a:ext cx="164592" cy="164592"/>
          </a:xfrm>
          <a:prstGeom prst="ellipse">
            <a:avLst/>
          </a:prstGeom>
          <a:solidFill>
            <a:srgbClr val="F05133"/>
          </a:solidFill>
          <a:ln w="12700">
            <a:solidFill>
              <a:srgbClr val="F05133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22" name="Text 20"/>
          <p:cNvSpPr txBox="1"/>
          <p:nvPr/>
        </p:nvSpPr>
        <p:spPr>
          <a:xfrm>
            <a:off x="6812280" y="4572000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and learning resources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9893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1600" i="1" dirty="0"/>
              <a:t>From individual developers and startups to universities, governments, and large organisations, Git and GitHub are used across many sectors and locations. </a:t>
            </a:r>
            <a:endParaRPr lang="en-US" sz="1600" i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/>
        </p:nvSpPr>
        <p:spPr>
          <a:xfrm>
            <a:off x="487680" y="1536326"/>
            <a:ext cx="4876800" cy="42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00000"/>
              </a:buClr>
              <a:buSzPts val="2200"/>
            </a:pPr>
            <a:r>
              <a:rPr lang="en-US" sz="2933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</a:t>
            </a:r>
            <a:endParaRPr sz="29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 txBox="1"/>
          <p:nvPr/>
        </p:nvSpPr>
        <p:spPr>
          <a:xfrm>
            <a:off x="487680" y="1963046"/>
            <a:ext cx="4876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666666"/>
              </a:buClr>
              <a:buSzPts val="1000"/>
            </a:pPr>
            <a:r>
              <a:rPr lang="en-US" sz="1333" i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Local &amp; Independent</a:t>
            </a:r>
            <a:endParaRPr sz="13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87680" y="2328806"/>
            <a:ext cx="4876800" cy="25603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1" name="Google Shape;21;p3"/>
          <p:cNvSpPr txBox="1"/>
          <p:nvPr/>
        </p:nvSpPr>
        <p:spPr>
          <a:xfrm>
            <a:off x="731520" y="2572646"/>
            <a:ext cx="438912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00000"/>
              </a:buClr>
              <a:buSzPts val="1000"/>
            </a:pPr>
            <a:r>
              <a:rPr lang="en-US" sz="1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✓ Free and open-source</a:t>
            </a:r>
            <a:endParaRPr sz="13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 txBox="1"/>
          <p:nvPr/>
        </p:nvSpPr>
        <p:spPr>
          <a:xfrm>
            <a:off x="731520" y="2938406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00000"/>
              </a:buClr>
              <a:buSzPts val="1000"/>
            </a:pPr>
            <a:r>
              <a:rPr lang="en-US" sz="1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✓ Works on Windows, macOS, Linux</a:t>
            </a:r>
            <a:endParaRPr sz="13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 txBox="1"/>
          <p:nvPr/>
        </p:nvSpPr>
        <p:spPr>
          <a:xfrm>
            <a:off x="731520" y="3365126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00000"/>
              </a:buClr>
              <a:buSzPts val="1000"/>
            </a:pPr>
            <a:r>
              <a:rPr lang="en-US" sz="1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✓ Use independently without GitHub</a:t>
            </a:r>
            <a:endParaRPr sz="13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 txBox="1"/>
          <p:nvPr/>
        </p:nvSpPr>
        <p:spPr>
          <a:xfrm>
            <a:off x="731520" y="3791846"/>
            <a:ext cx="4389120" cy="42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00000"/>
              </a:buClr>
              <a:buSzPts val="1000"/>
            </a:pPr>
            <a:r>
              <a:rPr lang="en-US" sz="1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✓ Manage projects locally on your computer</a:t>
            </a:r>
            <a:endParaRPr sz="13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 txBox="1"/>
          <p:nvPr/>
        </p:nvSpPr>
        <p:spPr>
          <a:xfrm>
            <a:off x="731520" y="4279526"/>
            <a:ext cx="438912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00000"/>
              </a:buClr>
              <a:buSzPts val="1000"/>
            </a:pPr>
            <a:r>
              <a:rPr lang="en-US" sz="1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✓ No account required</a:t>
            </a:r>
            <a:endParaRPr sz="13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 txBox="1"/>
          <p:nvPr/>
        </p:nvSpPr>
        <p:spPr>
          <a:xfrm>
            <a:off x="6827520" y="1536326"/>
            <a:ext cx="4876800" cy="42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00000"/>
              </a:buClr>
              <a:buSzPts val="2200"/>
            </a:pPr>
            <a:r>
              <a:rPr lang="en-US" sz="2933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  <a:endParaRPr sz="29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 txBox="1"/>
          <p:nvPr/>
        </p:nvSpPr>
        <p:spPr>
          <a:xfrm>
            <a:off x="6827520" y="1963046"/>
            <a:ext cx="4876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666666"/>
              </a:buClr>
              <a:buSzPts val="1000"/>
            </a:pPr>
            <a:r>
              <a:rPr lang="en-US" sz="1333" i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Web-Based &amp; Collaborative</a:t>
            </a:r>
            <a:endParaRPr sz="13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6827520" y="2328806"/>
            <a:ext cx="4876800" cy="25603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9" name="Google Shape;29;p3"/>
          <p:cNvSpPr txBox="1"/>
          <p:nvPr/>
        </p:nvSpPr>
        <p:spPr>
          <a:xfrm>
            <a:off x="7071360" y="2572646"/>
            <a:ext cx="438912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00000"/>
              </a:buClr>
              <a:buSzPts val="1000"/>
            </a:pPr>
            <a:r>
              <a:rPr lang="en-US" sz="1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✓ Web-based platform</a:t>
            </a:r>
            <a:endParaRPr sz="13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 txBox="1"/>
          <p:nvPr/>
        </p:nvSpPr>
        <p:spPr>
          <a:xfrm>
            <a:off x="7071360" y="2938406"/>
            <a:ext cx="438912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00000"/>
              </a:buClr>
              <a:buSzPts val="1000"/>
            </a:pPr>
            <a:r>
              <a:rPr lang="en-US" sz="1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✓ Requires a free account</a:t>
            </a:r>
            <a:endParaRPr sz="13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 txBox="1"/>
          <p:nvPr/>
        </p:nvSpPr>
        <p:spPr>
          <a:xfrm>
            <a:off x="7071360" y="3304166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00000"/>
              </a:buClr>
              <a:buSzPts val="1000"/>
            </a:pPr>
            <a:r>
              <a:rPr lang="en-US" sz="1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✓ Make repositories public or private</a:t>
            </a:r>
            <a:endParaRPr sz="13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 txBox="1"/>
          <p:nvPr/>
        </p:nvSpPr>
        <p:spPr>
          <a:xfrm>
            <a:off x="7071360" y="3730886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00000"/>
              </a:buClr>
              <a:buSzPts val="1000"/>
            </a:pPr>
            <a:r>
              <a:rPr lang="en-US" sz="1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✓ Share and collaborate in the cloud</a:t>
            </a:r>
            <a:endParaRPr sz="13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 txBox="1"/>
          <p:nvPr/>
        </p:nvSpPr>
        <p:spPr>
          <a:xfrm>
            <a:off x="7071360" y="4157606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00000"/>
              </a:buClr>
              <a:buSzPts val="1000"/>
            </a:pPr>
            <a:r>
              <a:rPr lang="en-US" sz="1333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✓ Upload Git repositories for collaboration</a:t>
            </a:r>
            <a:endParaRPr sz="1333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5242560" y="3608966"/>
            <a:ext cx="1706880" cy="60960"/>
          </a:xfrm>
          <a:prstGeom prst="rect">
            <a:avLst/>
          </a:prstGeom>
          <a:solidFill>
            <a:srgbClr val="CC443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5" name="Google Shape;35;p3"/>
          <p:cNvSpPr/>
          <p:nvPr/>
        </p:nvSpPr>
        <p:spPr>
          <a:xfrm>
            <a:off x="1219200" y="1414406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CC443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6" name="Google Shape;36;p3"/>
          <p:cNvSpPr txBox="1"/>
          <p:nvPr/>
        </p:nvSpPr>
        <p:spPr>
          <a:xfrm>
            <a:off x="5486400" y="3304166"/>
            <a:ext cx="1219200" cy="243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CC4433"/>
              </a:buClr>
              <a:buSzPts val="800"/>
            </a:pPr>
            <a:r>
              <a:rPr lang="en-US" sz="1067" i="1">
                <a:solidFill>
                  <a:srgbClr val="CC4433"/>
                </a:solidFill>
                <a:latin typeface="Arial"/>
                <a:ea typeface="Arial"/>
                <a:cs typeface="Arial"/>
                <a:sym typeface="Arial"/>
              </a:rPr>
              <a:t>upload</a:t>
            </a: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 txBox="1"/>
          <p:nvPr/>
        </p:nvSpPr>
        <p:spPr>
          <a:xfrm>
            <a:off x="487680" y="5072006"/>
            <a:ext cx="1121664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00000"/>
              </a:buClr>
              <a:buSzPts val="1200"/>
            </a:pPr>
            <a:r>
              <a:rPr lang="en-US" sz="1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Alternatives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 txBox="1"/>
          <p:nvPr/>
        </p:nvSpPr>
        <p:spPr>
          <a:xfrm>
            <a:off x="487680" y="5498726"/>
            <a:ext cx="1121664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333333"/>
              </a:buClr>
              <a:buSzPts val="1000"/>
            </a:pPr>
            <a:r>
              <a:rPr lang="en-US" sz="1333" i="1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GitLab and Bitbucket also provide Git-based repository hosting and collaboration features as alternatives to GitHub.</a:t>
            </a:r>
            <a:endParaRPr sz="1333" i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DAD4F26-9B9B-9957-BE68-59E4D3F9B45F}"/>
              </a:ext>
            </a:extLst>
          </p:cNvPr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</a:rPr>
              <a:t>How to Access Git and GitHub</a:t>
            </a:r>
            <a:endParaRPr lang="en-US" sz="44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835A3CF8-354B-5C74-AE91-985B50446641}"/>
              </a:ext>
            </a:extLst>
          </p:cNvPr>
          <p:cNvSpPr/>
          <p:nvPr/>
        </p:nvSpPr>
        <p:spPr>
          <a:xfrm>
            <a:off x="548640" y="1388860"/>
            <a:ext cx="11094415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Git and GitHub Matter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4415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610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lets developers experiment, test, and revert — turning software development into small, iterative steps instead of edits to one fixed version.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46120"/>
            <a:ext cx="6106160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000000"/>
                </a:solidFill>
                <a:ea typeface="Calibri" pitchFamily="34" charset="-122"/>
                <a:cs typeface="Calibri" pitchFamily="34" charset="-120"/>
              </a:rPr>
              <a:t>GitHub extends this by letting the work be shared, reviewed, and developed by many contributors at once — crucial for large, continuously changing projects.</a:t>
            </a:r>
          </a:p>
        </p:txBody>
      </p:sp>
      <p:sp>
        <p:nvSpPr>
          <p:cNvPr id="7" name="Shape 5"/>
          <p:cNvSpPr/>
          <p:nvPr/>
        </p:nvSpPr>
        <p:spPr>
          <a:xfrm>
            <a:off x="7635240" y="2331720"/>
            <a:ext cx="2834640" cy="2834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9D9D9"/>
            </a:solidFill>
            <a:prstDash val="dash"/>
          </a:ln>
        </p:spPr>
        <p:txBody>
          <a:bodyPr/>
          <a:lstStyle/>
          <a:p>
            <a:endParaRPr lang="en-GB" sz="2800"/>
          </a:p>
        </p:txBody>
      </p:sp>
      <p:sp>
        <p:nvSpPr>
          <p:cNvPr id="8" name="Shape 6"/>
          <p:cNvSpPr/>
          <p:nvPr/>
        </p:nvSpPr>
        <p:spPr>
          <a:xfrm>
            <a:off x="8549640" y="1965960"/>
            <a:ext cx="1005840" cy="7315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F05133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9" name="Text 7"/>
          <p:cNvSpPr txBox="1"/>
          <p:nvPr/>
        </p:nvSpPr>
        <p:spPr>
          <a:xfrm>
            <a:off x="8549640" y="196596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897591" y="3821256"/>
            <a:ext cx="1005840" cy="7315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F05133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11" name="Text 9"/>
          <p:cNvSpPr txBox="1"/>
          <p:nvPr/>
        </p:nvSpPr>
        <p:spPr>
          <a:xfrm>
            <a:off x="9897591" y="3821256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16560" y="4529916"/>
            <a:ext cx="1005840" cy="7315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F05133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13" name="Text 11"/>
          <p:cNvSpPr txBox="1"/>
          <p:nvPr/>
        </p:nvSpPr>
        <p:spPr>
          <a:xfrm>
            <a:off x="7716560" y="4529916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Revert / Refine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372600" y="2651760"/>
            <a:ext cx="936471" cy="1078056"/>
          </a:xfrm>
          <a:prstGeom prst="line">
            <a:avLst/>
          </a:prstGeom>
          <a:noFill/>
          <a:ln w="15875">
            <a:solidFill>
              <a:srgbClr val="6E6E6E"/>
            </a:solidFill>
            <a:prstDash val="solid"/>
            <a:tailEnd type="triangle"/>
          </a:ln>
        </p:spPr>
        <p:txBody>
          <a:bodyPr/>
          <a:lstStyle/>
          <a:p>
            <a:endParaRPr lang="en-GB" sz="2800"/>
          </a:p>
        </p:txBody>
      </p:sp>
      <p:sp>
        <p:nvSpPr>
          <p:cNvPr id="15" name="Shape 13"/>
          <p:cNvSpPr/>
          <p:nvPr/>
        </p:nvSpPr>
        <p:spPr>
          <a:xfrm flipH="1">
            <a:off x="8722400" y="4507056"/>
            <a:ext cx="1220911" cy="480060"/>
          </a:xfrm>
          <a:prstGeom prst="line">
            <a:avLst/>
          </a:prstGeom>
          <a:noFill/>
          <a:ln w="15875">
            <a:solidFill>
              <a:srgbClr val="6E6E6E"/>
            </a:solidFill>
            <a:prstDash val="solid"/>
            <a:tailEnd type="triangle"/>
          </a:ln>
        </p:spPr>
        <p:txBody>
          <a:bodyPr/>
          <a:lstStyle/>
          <a:p>
            <a:endParaRPr lang="en-GB" sz="2800"/>
          </a:p>
        </p:txBody>
      </p:sp>
      <p:sp>
        <p:nvSpPr>
          <p:cNvPr id="16" name="Shape 14"/>
          <p:cNvSpPr/>
          <p:nvPr/>
        </p:nvSpPr>
        <p:spPr>
          <a:xfrm flipV="1">
            <a:off x="8265200" y="2651760"/>
            <a:ext cx="421600" cy="1786716"/>
          </a:xfrm>
          <a:prstGeom prst="line">
            <a:avLst/>
          </a:prstGeom>
          <a:noFill/>
          <a:ln w="15875">
            <a:solidFill>
              <a:srgbClr val="6E6E6E"/>
            </a:solidFill>
            <a:prstDash val="solid"/>
            <a:tailEnd type="triangle"/>
          </a:ln>
        </p:spPr>
        <p:txBody>
          <a:bodyPr/>
          <a:lstStyle/>
          <a:p>
            <a:endParaRPr lang="en-GB" sz="2800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C7C42D9D-9F1A-6AB4-DDCF-F0E6A0134D91}"/>
              </a:ext>
            </a:extLst>
          </p:cNvPr>
          <p:cNvSpPr txBox="1"/>
          <p:nvPr/>
        </p:nvSpPr>
        <p:spPr>
          <a:xfrm>
            <a:off x="548640" y="5166360"/>
            <a:ext cx="610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GB" sz="2000" b="1" dirty="0"/>
              <a:t>In education, commits on GitHub can create a record of learning over time, thus helping learners reflect on their progress, maintain consistent effort, and track how their work develops.</a:t>
            </a:r>
            <a:endParaRPr lang="en-US" sz="2000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McLuhan's Tetrad: Enhance &amp; Obsolesce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4415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1206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6" name="Text 4"/>
          <p:cNvSpPr txBox="1"/>
          <p:nvPr/>
        </p:nvSpPr>
        <p:spPr>
          <a:xfrm>
            <a:off x="868680" y="208483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ENHANCES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868680" y="2560320"/>
            <a:ext cx="448056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8" name="Shape 6"/>
          <p:cNvSpPr/>
          <p:nvPr/>
        </p:nvSpPr>
        <p:spPr>
          <a:xfrm>
            <a:off x="868680" y="2907792"/>
            <a:ext cx="146304" cy="0"/>
          </a:xfrm>
          <a:prstGeom prst="line">
            <a:avLst/>
          </a:prstGeom>
          <a:noFill/>
          <a:ln w="25400">
            <a:solidFill>
              <a:srgbClr val="F05133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9" name="Text 7"/>
          <p:cNvSpPr txBox="1"/>
          <p:nvPr/>
        </p:nvSpPr>
        <p:spPr>
          <a:xfrm>
            <a:off x="1115568" y="255200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development — experiment, test, revert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68680" y="3657600"/>
            <a:ext cx="146304" cy="0"/>
          </a:xfrm>
          <a:prstGeom prst="line">
            <a:avLst/>
          </a:prstGeom>
          <a:noFill/>
          <a:ln w="25400">
            <a:solidFill>
              <a:srgbClr val="F05133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11" name="Text 9"/>
          <p:cNvSpPr txBox="1"/>
          <p:nvPr/>
        </p:nvSpPr>
        <p:spPr>
          <a:xfrm>
            <a:off x="1115568" y="3301816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— every change is tracked over time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68680" y="4407408"/>
            <a:ext cx="146304" cy="0"/>
          </a:xfrm>
          <a:prstGeom prst="line">
            <a:avLst/>
          </a:prstGeom>
          <a:noFill/>
          <a:ln w="25400">
            <a:solidFill>
              <a:srgbClr val="F05133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13" name="Text 11"/>
          <p:cNvSpPr txBox="1"/>
          <p:nvPr/>
        </p:nvSpPr>
        <p:spPr>
          <a:xfrm>
            <a:off x="1115568" y="414409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— shared, structured, visible peer review (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72200" y="1828800"/>
            <a:ext cx="51206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15" name="Text 13"/>
          <p:cNvSpPr txBox="1"/>
          <p:nvPr/>
        </p:nvSpPr>
        <p:spPr>
          <a:xfrm>
            <a:off x="6492240" y="208483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OBSOLETE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492240" y="2560320"/>
            <a:ext cx="448056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17" name="Shape 15"/>
          <p:cNvSpPr/>
          <p:nvPr/>
        </p:nvSpPr>
        <p:spPr>
          <a:xfrm>
            <a:off x="6492240" y="2907792"/>
            <a:ext cx="146304" cy="0"/>
          </a:xfrm>
          <a:prstGeom prst="line">
            <a:avLst/>
          </a:prstGeom>
          <a:noFill/>
          <a:ln w="25400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18" name="Text 16"/>
          <p:cNvSpPr txBox="1"/>
          <p:nvPr/>
        </p:nvSpPr>
        <p:spPr>
          <a:xfrm>
            <a:off x="6739128" y="2576946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single, fixed version of a project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92240" y="3657600"/>
            <a:ext cx="146304" cy="0"/>
          </a:xfrm>
          <a:prstGeom prst="line">
            <a:avLst/>
          </a:prstGeom>
          <a:noFill/>
          <a:ln w="25400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20" name="Text 18"/>
          <p:cNvSpPr txBox="1"/>
          <p:nvPr/>
        </p:nvSpPr>
        <p:spPr>
          <a:xfrm>
            <a:off x="6739128" y="3326754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tracking changes or saving copies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92240" y="4407408"/>
            <a:ext cx="146304" cy="0"/>
          </a:xfrm>
          <a:prstGeom prst="line">
            <a:avLst/>
          </a:prstGeom>
          <a:noFill/>
          <a:ln w="25400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22" name="Text 20"/>
          <p:cNvSpPr txBox="1"/>
          <p:nvPr/>
        </p:nvSpPr>
        <p:spPr>
          <a:xfrm>
            <a:off x="6739128" y="4076562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files back and forth to collaborate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92240" y="5157216"/>
            <a:ext cx="146304" cy="0"/>
          </a:xfrm>
          <a:prstGeom prst="line">
            <a:avLst/>
          </a:prstGeom>
          <a:noFill/>
          <a:ln w="25400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24" name="Text 22"/>
          <p:cNvSpPr txBox="1"/>
          <p:nvPr/>
        </p:nvSpPr>
        <p:spPr>
          <a:xfrm>
            <a:off x="6739128" y="482637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1600" dirty="0"/>
              <a:t>Starting projects from scratch when existing work can be reused (GitHub)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McLuhan's Tetrad: Retrieve &amp; Reverse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4415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1206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6" name="Text 4"/>
          <p:cNvSpPr txBox="1"/>
          <p:nvPr/>
        </p:nvSpPr>
        <p:spPr>
          <a:xfrm>
            <a:off x="868680" y="208483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68680" y="2560320"/>
            <a:ext cx="448056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8" name="Shape 6"/>
          <p:cNvSpPr/>
          <p:nvPr/>
        </p:nvSpPr>
        <p:spPr>
          <a:xfrm>
            <a:off x="868680" y="2907792"/>
            <a:ext cx="146304" cy="0"/>
          </a:xfrm>
          <a:prstGeom prst="line">
            <a:avLst/>
          </a:prstGeom>
          <a:noFill/>
          <a:ln w="25400">
            <a:solidFill>
              <a:srgbClr val="F05133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9" name="Text 7"/>
          <p:cNvSpPr txBox="1"/>
          <p:nvPr/>
        </p:nvSpPr>
        <p:spPr>
          <a:xfrm>
            <a:off x="1115568" y="2518756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record of how work develops over time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868680" y="3730752"/>
            <a:ext cx="146304" cy="0"/>
          </a:xfrm>
          <a:prstGeom prst="line">
            <a:avLst/>
          </a:prstGeom>
          <a:noFill/>
          <a:ln w="25400">
            <a:solidFill>
              <a:srgbClr val="F05133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11" name="Text 9"/>
          <p:cNvSpPr txBox="1"/>
          <p:nvPr/>
        </p:nvSpPr>
        <p:spPr>
          <a:xfrm>
            <a:off x="1115568" y="3341716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authorship — changes tied to the person who made them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868680" y="4553712"/>
            <a:ext cx="146304" cy="0"/>
          </a:xfrm>
          <a:prstGeom prst="line">
            <a:avLst/>
          </a:prstGeom>
          <a:noFill/>
          <a:ln w="25400">
            <a:solidFill>
              <a:srgbClr val="F05133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13" name="Text 11"/>
          <p:cNvSpPr txBox="1"/>
          <p:nvPr/>
        </p:nvSpPr>
        <p:spPr>
          <a:xfrm>
            <a:off x="1115568" y="4164676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peer review and collective contribution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172200" y="1828800"/>
            <a:ext cx="51206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15" name="Text 13"/>
          <p:cNvSpPr txBox="1"/>
          <p:nvPr/>
        </p:nvSpPr>
        <p:spPr>
          <a:xfrm>
            <a:off x="6492240" y="208483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REVERSES INTO, AT EXTREMES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492240" y="2560320"/>
            <a:ext cx="448056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17" name="Shape 15"/>
          <p:cNvSpPr/>
          <p:nvPr/>
        </p:nvSpPr>
        <p:spPr>
          <a:xfrm>
            <a:off x="6492240" y="2907792"/>
            <a:ext cx="146304" cy="0"/>
          </a:xfrm>
          <a:prstGeom prst="line">
            <a:avLst/>
          </a:prstGeom>
          <a:noFill/>
          <a:ln w="25400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18" name="Text 16"/>
          <p:cNvSpPr txBox="1"/>
          <p:nvPr/>
        </p:nvSpPr>
        <p:spPr>
          <a:xfrm>
            <a:off x="6739128" y="250213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branches — unclear what's current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6492240" y="3730752"/>
            <a:ext cx="146304" cy="0"/>
          </a:xfrm>
          <a:prstGeom prst="line">
            <a:avLst/>
          </a:prstGeom>
          <a:noFill/>
          <a:ln w="25400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20" name="Text 18"/>
          <p:cNvSpPr txBox="1"/>
          <p:nvPr/>
        </p:nvSpPr>
        <p:spPr>
          <a:xfrm>
            <a:off x="6739128" y="337646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Change-tracking that overwhelms large, active projects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492240" y="4553712"/>
            <a:ext cx="146304" cy="0"/>
          </a:xfrm>
          <a:prstGeom prst="line">
            <a:avLst/>
          </a:prstGeom>
          <a:noFill/>
          <a:ln w="25400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22" name="Text 20"/>
          <p:cNvSpPr txBox="1"/>
          <p:nvPr/>
        </p:nvSpPr>
        <p:spPr>
          <a:xfrm>
            <a:off x="6739128" y="414805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steep learning curve for newcomers</a:t>
            </a:r>
            <a:endParaRPr lang="en-US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0350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designed to make development more flexible can, at an extreme, make the process more complicated.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BIGGER PICTURE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static files to living projects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615184"/>
            <a:ext cx="256032" cy="0"/>
          </a:xfrm>
          <a:prstGeom prst="line">
            <a:avLst/>
          </a:prstGeom>
          <a:noFill/>
          <a:ln w="25400">
            <a:solidFill>
              <a:srgbClr val="F05133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5" name="Text 3"/>
          <p:cNvSpPr txBox="1"/>
          <p:nvPr/>
        </p:nvSpPr>
        <p:spPr>
          <a:xfrm>
            <a:off x="1005840" y="2256905"/>
            <a:ext cx="10637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keeps track of how a project changes over time.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48640" y="3511296"/>
            <a:ext cx="256032" cy="0"/>
          </a:xfrm>
          <a:prstGeom prst="line">
            <a:avLst/>
          </a:prstGeom>
          <a:noFill/>
          <a:ln w="25400">
            <a:solidFill>
              <a:srgbClr val="F05133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7" name="Text 5"/>
          <p:cNvSpPr txBox="1"/>
          <p:nvPr/>
        </p:nvSpPr>
        <p:spPr>
          <a:xfrm>
            <a:off x="1005840" y="3153017"/>
            <a:ext cx="10637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gives people a space to share work, review changes, and contribute.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48640" y="4407408"/>
            <a:ext cx="256032" cy="0"/>
          </a:xfrm>
          <a:prstGeom prst="line">
            <a:avLst/>
          </a:prstGeom>
          <a:noFill/>
          <a:ln w="25400">
            <a:solidFill>
              <a:srgbClr val="F05133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9" name="Text 7"/>
          <p:cNvSpPr txBox="1"/>
          <p:nvPr/>
        </p:nvSpPr>
        <p:spPr>
          <a:xfrm>
            <a:off x="1005840" y="4213513"/>
            <a:ext cx="10637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they support a shift from static files to projects continuously updated, shared, and built by many people at once.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48640" y="5303520"/>
            <a:ext cx="256032" cy="0"/>
          </a:xfrm>
          <a:prstGeom prst="line">
            <a:avLst/>
          </a:prstGeom>
          <a:noFill/>
          <a:ln w="25400">
            <a:solidFill>
              <a:srgbClr val="F05133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11" name="Text 9"/>
          <p:cNvSpPr txBox="1"/>
          <p:nvPr/>
        </p:nvSpPr>
        <p:spPr>
          <a:xfrm>
            <a:off x="1005840" y="5078803"/>
            <a:ext cx="10637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dirty="0">
                <a:solidFill>
                  <a:schemeClr val="bg1"/>
                </a:solidFill>
              </a:rPr>
              <a:t>For learners, Git and GitHub support iterative development, documentation, reflection through commits, peer review, and remote collaboration.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18A733-AA5D-46C4-2BE7-DDC6B9E7240F}"/>
              </a:ext>
            </a:extLst>
          </p:cNvPr>
          <p:cNvSpPr txBox="1"/>
          <p:nvPr/>
        </p:nvSpPr>
        <p:spPr>
          <a:xfrm>
            <a:off x="458912" y="1396207"/>
            <a:ext cx="117330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GB" b="1" dirty="0"/>
              <a:t>Git and GitHub – </a:t>
            </a:r>
            <a:r>
              <a:rPr lang="en-GB" b="1" dirty="0">
                <a:hlinkClick r:id="rId2"/>
              </a:rPr>
              <a:t>https://www.youtube.com/watch?v=QzvA7r-WndM&amp;vl=en&amp;t=303</a:t>
            </a:r>
            <a:r>
              <a:rPr lang="en-GB" b="1" dirty="0"/>
              <a:t>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GB" b="1" dirty="0"/>
              <a:t>GitHub for Beginners: </a:t>
            </a:r>
            <a:r>
              <a:rPr lang="en-GB" b="1" dirty="0">
                <a:hlinkClick r:id="rId3"/>
              </a:rPr>
              <a:t>https://www.youtube.com/watch?v=a9u2yZvsqHA</a:t>
            </a:r>
            <a:r>
              <a:rPr lang="en-GB" b="1" dirty="0"/>
              <a:t>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GB" b="1" dirty="0"/>
              <a:t>Git and GitHub Tutorial for Beginners: </a:t>
            </a:r>
            <a:r>
              <a:rPr lang="en-GB" b="1" dirty="0">
                <a:hlinkClick r:id="rId4"/>
              </a:rPr>
              <a:t>https://www.youtube.com/watch?v=tRZGeaHPoaw</a:t>
            </a:r>
            <a:r>
              <a:rPr lang="en-GB" b="1" dirty="0"/>
              <a:t> </a:t>
            </a:r>
            <a:endParaRPr lang="en-GB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3474EC72-74E1-E931-932F-BE76EE85C89C}"/>
              </a:ext>
            </a:extLst>
          </p:cNvPr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Videos to Learn More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20863179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25A36A-D998-9C81-EA4A-1AA4FA4D072A}"/>
              </a:ext>
            </a:extLst>
          </p:cNvPr>
          <p:cNvSpPr txBox="1"/>
          <p:nvPr/>
        </p:nvSpPr>
        <p:spPr>
          <a:xfrm>
            <a:off x="458912" y="1396207"/>
            <a:ext cx="11733088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GB" b="1" dirty="0"/>
              <a:t>Git – About</a:t>
            </a:r>
            <a:r>
              <a:rPr lang="en-GB" dirty="0"/>
              <a:t> – Official overview of what Git is and how it works.</a:t>
            </a:r>
            <a:br>
              <a:rPr lang="en-GB" dirty="0"/>
            </a:br>
            <a:r>
              <a:rPr lang="en-GB" dirty="0">
                <a:hlinkClick r:id="rId2"/>
              </a:rPr>
              <a:t>https://git-scm.com/about</a:t>
            </a:r>
            <a:r>
              <a:rPr lang="en-GB" dirty="0"/>
              <a:t>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GB" b="1" dirty="0"/>
              <a:t>Git – Documentation / Book</a:t>
            </a:r>
            <a:r>
              <a:rPr lang="en-GB" dirty="0"/>
              <a:t> – Detailed explanation of repositories, commits, branches, merges, and distributed workflow.</a:t>
            </a:r>
            <a:br>
              <a:rPr lang="en-GB" dirty="0"/>
            </a:br>
            <a:r>
              <a:rPr lang="en-GB" dirty="0">
                <a:hlinkClick r:id="rId3"/>
              </a:rPr>
              <a:t>https://git-scm.com/doc</a:t>
            </a:r>
            <a:r>
              <a:rPr lang="en-GB" dirty="0"/>
              <a:t>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GB" b="1" dirty="0"/>
              <a:t>GitHub Docs – “What is GitHub?”</a:t>
            </a:r>
            <a:r>
              <a:rPr lang="en-GB" dirty="0"/>
              <a:t> – Explains GitHub as a platform built around Git, with repos, pull requests, issues, etc.</a:t>
            </a:r>
            <a:br>
              <a:rPr lang="en-GB" dirty="0"/>
            </a:br>
            <a:r>
              <a:rPr lang="en-GB" dirty="0">
                <a:hlinkClick r:id="rId4"/>
              </a:rPr>
              <a:t>https://docs.github.com/en/get-started/start-your-journey/what-is-github</a:t>
            </a:r>
            <a:r>
              <a:rPr lang="en-GB" dirty="0"/>
              <a:t>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GB" b="1" dirty="0"/>
              <a:t>GitHub Docs – “Using pull requests”</a:t>
            </a:r>
            <a:r>
              <a:rPr lang="en-GB" dirty="0"/>
              <a:t> – Your PR definition and workflow details.</a:t>
            </a:r>
            <a:br>
              <a:rPr lang="en-GB" dirty="0"/>
            </a:br>
            <a:r>
              <a:rPr lang="en-GB" dirty="0">
                <a:hlinkClick r:id="rId5"/>
              </a:rPr>
              <a:t>https://docs.github.com/articles/using-pull-requests</a:t>
            </a:r>
            <a:r>
              <a:rPr lang="en-GB" dirty="0"/>
              <a:t>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GB" b="1" dirty="0" err="1"/>
              <a:t>GeeksforGeeks</a:t>
            </a:r>
            <a:r>
              <a:rPr lang="en-GB" b="1" dirty="0"/>
              <a:t> – “History of Git”</a:t>
            </a:r>
            <a:r>
              <a:rPr lang="en-GB" dirty="0"/>
              <a:t> – Covers the 2005 Linux kernel context, </a:t>
            </a:r>
            <a:r>
              <a:rPr lang="en-GB" dirty="0" err="1"/>
              <a:t>BitKeeper</a:t>
            </a:r>
            <a:r>
              <a:rPr lang="en-GB" dirty="0"/>
              <a:t> licensing dispute, and why Git was created.</a:t>
            </a:r>
            <a:br>
              <a:rPr lang="en-GB" dirty="0"/>
            </a:br>
            <a:r>
              <a:rPr lang="en-GB" dirty="0">
                <a:hlinkClick r:id="rId6"/>
              </a:rPr>
              <a:t>https://www.geeksforgeeks.org/git/history-of-git/</a:t>
            </a:r>
            <a:r>
              <a:rPr lang="en-GB" dirty="0"/>
              <a:t>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GB" b="1" dirty="0"/>
              <a:t>LinkedIn article – “From Linus to GitHub: The Fun and Fascinating History of Git” (Michael Baker)</a:t>
            </a:r>
            <a:r>
              <a:rPr lang="en-GB" dirty="0"/>
              <a:t> – Narrative on </a:t>
            </a:r>
            <a:r>
              <a:rPr lang="en-GB" dirty="0" err="1"/>
              <a:t>BitKeeper</a:t>
            </a:r>
            <a:r>
              <a:rPr lang="en-GB" dirty="0"/>
              <a:t> crisis, Git’s design goals, and GitHub’s role in making Git social and accessible.</a:t>
            </a:r>
            <a:br>
              <a:rPr lang="en-GB" dirty="0"/>
            </a:br>
            <a:r>
              <a:rPr lang="en-GB" dirty="0">
                <a:hlinkClick r:id="rId7"/>
              </a:rPr>
              <a:t>https://www.linkedin.com/pulse/from-linus-github-fun-fascinating-history-git-michael-baker</a:t>
            </a:r>
            <a:r>
              <a:rPr lang="en-GB" dirty="0"/>
              <a:t>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GB" b="1" dirty="0"/>
              <a:t>WIPO blog – “Software Collaboration Hits 5 Billion GitHub Commits” (2026)</a:t>
            </a:r>
            <a:r>
              <a:rPr lang="en-GB" dirty="0"/>
              <a:t> – Evidence of wide adoption across industries and the scale of Git/GitHub use globally.</a:t>
            </a:r>
            <a:br>
              <a:rPr lang="en-GB" dirty="0"/>
            </a:br>
            <a:r>
              <a:rPr lang="en-GB" dirty="0">
                <a:hlinkClick r:id="rId8"/>
              </a:rPr>
              <a:t>https://www.wipo.int/en/web/global-innovation-index/w/blogs/2026/software-collaboration-hits-5-billion-github-commits</a:t>
            </a:r>
            <a:r>
              <a:rPr lang="en-GB" dirty="0"/>
              <a:t> </a:t>
            </a: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61D901FB-2E9D-7F1F-E6F1-E07A83D13847}"/>
              </a:ext>
            </a:extLst>
          </p:cNvPr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28402309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34173B-3C0C-4FAF-A9B9-AC3A2AB3A3AE}"/>
              </a:ext>
            </a:extLst>
          </p:cNvPr>
          <p:cNvSpPr txBox="1"/>
          <p:nvPr/>
        </p:nvSpPr>
        <p:spPr>
          <a:xfrm>
            <a:off x="904126" y="2692904"/>
            <a:ext cx="106132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Declaration of AI Use:</a:t>
            </a:r>
            <a:r>
              <a:rPr lang="en-GB" dirty="0"/>
              <a:t> Google AI Mode and Perplexity were used for research, Claude for slide-deck development, and ChatGPT for brainstorming and language refinement; all thoughts, interpretations, final analysis, and decisions are those of the author.</a:t>
            </a: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E3378420-1454-E8F2-54CE-261D857CA503}"/>
              </a:ext>
            </a:extLst>
          </p:cNvPr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499018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406</TotalTime>
  <Words>1198</Words>
  <Application>Microsoft Office PowerPoint</Application>
  <PresentationFormat>Widescreen</PresentationFormat>
  <Paragraphs>149</Paragraphs>
  <Slides>15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Shalini Sheth</cp:lastModifiedBy>
  <cp:revision>37</cp:revision>
  <dcterms:created xsi:type="dcterms:W3CDTF">2026-09-02T08:03:05Z</dcterms:created>
  <dcterms:modified xsi:type="dcterms:W3CDTF">2026-09-06T14:00:48Z</dcterms:modified>
</cp:coreProperties>
</file>